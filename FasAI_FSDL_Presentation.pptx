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</p:sldIdLst>
  <p:sldSz cx="18288000" cy="10287000"/>
  <p:notesSz cx="6858000" cy="9144000"/>
  <p:embeddedFontLst>
    <p:embeddedFont>
      <p:font typeface="Calibri (MS)" panose="020B0604020202020204" charset="0"/>
      <p:regular r:id="rId8"/>
    </p:embeddedFont>
    <p:embeddedFont>
      <p:font typeface="Cambria" panose="02040503050406030204" pitchFamily="18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132601" y="2109264"/>
            <a:ext cx="311239" cy="13999569"/>
            <a:chOff x="0" y="0"/>
            <a:chExt cx="414985" cy="18666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036" cy="18666079"/>
            </a:xfrm>
            <a:custGeom>
              <a:avLst/>
              <a:gdLst/>
              <a:ahLst/>
              <a:cxnLst/>
              <a:rect l="l" t="t" r="r" b="b"/>
              <a:pathLst>
                <a:path w="415036" h="18666079">
                  <a:moveTo>
                    <a:pt x="0" y="0"/>
                  </a:moveTo>
                  <a:lnTo>
                    <a:pt x="415036" y="0"/>
                  </a:lnTo>
                  <a:lnTo>
                    <a:pt x="41503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7418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5900" y="9534525"/>
            <a:ext cx="4114800" cy="547649"/>
            <a:chOff x="0" y="0"/>
            <a:chExt cx="5486400" cy="7301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30200"/>
            </a:xfrm>
            <a:custGeom>
              <a:avLst/>
              <a:gdLst/>
              <a:ahLst/>
              <a:cxnLst/>
              <a:rect l="l" t="t" r="r" b="b"/>
              <a:pathLst>
                <a:path w="5486400" h="7302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402" b="-9640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7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8855533" y="885823"/>
            <a:ext cx="509945" cy="18354999"/>
            <a:chOff x="0" y="0"/>
            <a:chExt cx="679926" cy="2447333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9964" cy="24473281"/>
            </a:xfrm>
            <a:custGeom>
              <a:avLst/>
              <a:gdLst/>
              <a:ahLst/>
              <a:cxnLst/>
              <a:rect l="l" t="t" r="r" b="b"/>
              <a:pathLst>
                <a:path w="679964" h="24473281">
                  <a:moveTo>
                    <a:pt x="0" y="0"/>
                  </a:moveTo>
                  <a:lnTo>
                    <a:pt x="679964" y="0"/>
                  </a:lnTo>
                  <a:lnTo>
                    <a:pt x="679964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04" r="-52154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317749" y="44127"/>
            <a:ext cx="1970256" cy="1082878"/>
            <a:chOff x="0" y="0"/>
            <a:chExt cx="2627008" cy="1443838"/>
          </a:xfrm>
        </p:grpSpPr>
        <p:sp>
          <p:nvSpPr>
            <p:cNvPr id="11" name="Freeform 11" descr="A close up of a sign  Description automatically generated"/>
            <p:cNvSpPr/>
            <p:nvPr/>
          </p:nvSpPr>
          <p:spPr>
            <a:xfrm>
              <a:off x="0" y="0"/>
              <a:ext cx="2626995" cy="1443863"/>
            </a:xfrm>
            <a:custGeom>
              <a:avLst/>
              <a:gdLst/>
              <a:ahLst/>
              <a:cxnLst/>
              <a:rect l="l" t="t" r="r" b="b"/>
              <a:pathLst>
                <a:path w="2626995" h="1443863">
                  <a:moveTo>
                    <a:pt x="0" y="0"/>
                  </a:moveTo>
                  <a:lnTo>
                    <a:pt x="2626995" y="0"/>
                  </a:lnTo>
                  <a:lnTo>
                    <a:pt x="2626995" y="1443863"/>
                  </a:lnTo>
                  <a:lnTo>
                    <a:pt x="0" y="1443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587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" y="44127"/>
            <a:ext cx="3314129" cy="756587"/>
            <a:chOff x="0" y="0"/>
            <a:chExt cx="7566216" cy="1727302"/>
          </a:xfrm>
        </p:grpSpPr>
        <p:sp>
          <p:nvSpPr>
            <p:cNvPr id="13" name="Freeform 13" descr="A picture containing drawing  Description automatically generated"/>
            <p:cNvSpPr/>
            <p:nvPr/>
          </p:nvSpPr>
          <p:spPr>
            <a:xfrm>
              <a:off x="0" y="0"/>
              <a:ext cx="7566152" cy="1727327"/>
            </a:xfrm>
            <a:custGeom>
              <a:avLst/>
              <a:gdLst/>
              <a:ahLst/>
              <a:cxnLst/>
              <a:rect l="l" t="t" r="r" b="b"/>
              <a:pathLst>
                <a:path w="7566152" h="1727327">
                  <a:moveTo>
                    <a:pt x="0" y="0"/>
                  </a:moveTo>
                  <a:lnTo>
                    <a:pt x="7566152" y="0"/>
                  </a:lnTo>
                  <a:lnTo>
                    <a:pt x="7566152" y="1727327"/>
                  </a:lnTo>
                  <a:lnTo>
                    <a:pt x="0" y="1727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950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554480"/>
            <a:ext cx="16459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B61F2E"/>
                </a:solidFill>
                <a:latin typeface="Calibri"/>
              </a:rPr>
              <a:t>PROJECT OVERVIEW  |  MIDWAY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057400"/>
            <a:ext cx="16459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>
                <a:solidFill>
                  <a:srgbClr val="0B4C8C"/>
                </a:solidFill>
                <a:latin typeface="Cambria"/>
              </a:rPr>
              <a:t>FasAI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429000"/>
            <a:ext cx="15544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F2933"/>
                </a:solidFill>
                <a:latin typeface="Cambria"/>
              </a:rPr>
              <a:t>High-Resolution Yield &amp; Water Stress Mapping via Multimodal Satellite-Drone Image Fusion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46320"/>
            <a:ext cx="15544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F6B76"/>
                </a:solidFill>
                <a:latin typeface="Calibri"/>
              </a:rPr>
              <a:t>Synthesizing sub-meter crop health and soil moisture maps from coarse Sentinel-2 imagery using Conditional GANs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5272130"/>
            <a:ext cx="7863840" cy="21031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89857" y="5537118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00" b="1" dirty="0">
                <a:solidFill>
                  <a:srgbClr val="0B4C8C"/>
                </a:solidFill>
                <a:latin typeface="Cambria"/>
              </a:rPr>
              <a:t>10 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85034" y="5702865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F2933"/>
                </a:solidFill>
                <a:latin typeface="Calibri"/>
              </a:rPr>
              <a:t>Sentinel-2 satellites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68564" y="6069621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rgbClr val="5F6B76"/>
                </a:solidFill>
                <a:latin typeface="Calibri"/>
              </a:rPr>
              <a:t>Free, global and frequent, but too coarse to see individual crop rows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83980" y="5291671"/>
            <a:ext cx="7863840" cy="21031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4" name="TextBox 23"/>
          <p:cNvSpPr txBox="1"/>
          <p:nvPr/>
        </p:nvSpPr>
        <p:spPr>
          <a:xfrm>
            <a:off x="9298789" y="5254609"/>
            <a:ext cx="29260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5600" b="1" dirty="0">
                <a:solidFill>
                  <a:srgbClr val="B61F2E"/>
                </a:solidFill>
                <a:latin typeface="Cambria"/>
              </a:rPr>
              <a:t>0.1 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41580" y="570634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 dirty="0">
                <a:solidFill>
                  <a:srgbClr val="1F2933"/>
                </a:solidFill>
                <a:latin typeface="Calibri"/>
              </a:rPr>
              <a:t>UAV drone scans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655625" y="6083951"/>
            <a:ext cx="420624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 dirty="0">
                <a:solidFill>
                  <a:srgbClr val="5F6B76"/>
                </a:solidFill>
                <a:latin typeface="Calibri"/>
              </a:rPr>
              <a:t>Sub-meter detail, but costly and impractical to fly daily over vast farmland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7EE39A-60A0-3FB0-8D4C-9D4AAAAE0B0D}"/>
              </a:ext>
            </a:extLst>
          </p:cNvPr>
          <p:cNvSpPr txBox="1"/>
          <p:nvPr/>
        </p:nvSpPr>
        <p:spPr>
          <a:xfrm>
            <a:off x="917812" y="7808965"/>
            <a:ext cx="80695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By : Parinita </a:t>
            </a:r>
            <a:r>
              <a:rPr lang="en-US" dirty="0" err="1"/>
              <a:t>Thayyil</a:t>
            </a:r>
            <a:r>
              <a:rPr lang="en-US" dirty="0"/>
              <a:t> – 16015024080</a:t>
            </a:r>
            <a:br>
              <a:rPr lang="en-US" dirty="0"/>
            </a:br>
            <a:r>
              <a:rPr lang="en-US" dirty="0"/>
              <a:t>        Ayush </a:t>
            </a:r>
            <a:r>
              <a:rPr lang="en-US" dirty="0" err="1"/>
              <a:t>Totala</a:t>
            </a:r>
            <a:r>
              <a:rPr lang="en-US" dirty="0"/>
              <a:t> - 16015024081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132601" y="2109264"/>
            <a:ext cx="311239" cy="13999569"/>
            <a:chOff x="0" y="0"/>
            <a:chExt cx="414985" cy="18666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036" cy="18666079"/>
            </a:xfrm>
            <a:custGeom>
              <a:avLst/>
              <a:gdLst/>
              <a:ahLst/>
              <a:cxnLst/>
              <a:rect l="l" t="t" r="r" b="b"/>
              <a:pathLst>
                <a:path w="415036" h="18666079">
                  <a:moveTo>
                    <a:pt x="0" y="0"/>
                  </a:moveTo>
                  <a:lnTo>
                    <a:pt x="415036" y="0"/>
                  </a:lnTo>
                  <a:lnTo>
                    <a:pt x="41503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7418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5900" y="9534525"/>
            <a:ext cx="4114800" cy="547649"/>
            <a:chOff x="0" y="0"/>
            <a:chExt cx="5486400" cy="7301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30200"/>
            </a:xfrm>
            <a:custGeom>
              <a:avLst/>
              <a:gdLst/>
              <a:ahLst/>
              <a:cxnLst/>
              <a:rect l="l" t="t" r="r" b="b"/>
              <a:pathLst>
                <a:path w="5486400" h="7302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402" b="-9640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7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855533" y="885823"/>
            <a:ext cx="509945" cy="18354999"/>
            <a:chOff x="0" y="0"/>
            <a:chExt cx="679926" cy="24473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9964" cy="24473281"/>
            </a:xfrm>
            <a:custGeom>
              <a:avLst/>
              <a:gdLst/>
              <a:ahLst/>
              <a:cxnLst/>
              <a:rect l="l" t="t" r="r" b="b"/>
              <a:pathLst>
                <a:path w="679964" h="24473281">
                  <a:moveTo>
                    <a:pt x="0" y="0"/>
                  </a:moveTo>
                  <a:lnTo>
                    <a:pt x="679964" y="0"/>
                  </a:lnTo>
                  <a:lnTo>
                    <a:pt x="679964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04" r="-52154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" y="44127"/>
            <a:ext cx="3314129" cy="756587"/>
            <a:chOff x="0" y="0"/>
            <a:chExt cx="7566216" cy="1727302"/>
          </a:xfrm>
        </p:grpSpPr>
        <p:sp>
          <p:nvSpPr>
            <p:cNvPr id="11" name="Freeform 11" descr="A picture containing drawing  Description automatically generated"/>
            <p:cNvSpPr/>
            <p:nvPr/>
          </p:nvSpPr>
          <p:spPr>
            <a:xfrm>
              <a:off x="0" y="0"/>
              <a:ext cx="7566152" cy="1727327"/>
            </a:xfrm>
            <a:custGeom>
              <a:avLst/>
              <a:gdLst/>
              <a:ahLst/>
              <a:cxnLst/>
              <a:rect l="l" t="t" r="r" b="b"/>
              <a:pathLst>
                <a:path w="7566152" h="1727327">
                  <a:moveTo>
                    <a:pt x="0" y="0"/>
                  </a:moveTo>
                  <a:lnTo>
                    <a:pt x="7566152" y="0"/>
                  </a:lnTo>
                  <a:lnTo>
                    <a:pt x="7566152" y="1727327"/>
                  </a:lnTo>
                  <a:lnTo>
                    <a:pt x="0" y="1727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50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17749" y="44127"/>
            <a:ext cx="1970256" cy="1082878"/>
            <a:chOff x="0" y="0"/>
            <a:chExt cx="2627008" cy="1443838"/>
          </a:xfrm>
        </p:grpSpPr>
        <p:sp>
          <p:nvSpPr>
            <p:cNvPr id="13" name="Freeform 13" descr="A close up of a sign  Description automatically generated"/>
            <p:cNvSpPr/>
            <p:nvPr/>
          </p:nvSpPr>
          <p:spPr>
            <a:xfrm>
              <a:off x="0" y="0"/>
              <a:ext cx="2626995" cy="1443863"/>
            </a:xfrm>
            <a:custGeom>
              <a:avLst/>
              <a:gdLst/>
              <a:ahLst/>
              <a:cxnLst/>
              <a:rect l="l" t="t" r="r" b="b"/>
              <a:pathLst>
                <a:path w="2626995" h="1443863">
                  <a:moveTo>
                    <a:pt x="0" y="0"/>
                  </a:moveTo>
                  <a:lnTo>
                    <a:pt x="2626995" y="0"/>
                  </a:lnTo>
                  <a:lnTo>
                    <a:pt x="2626995" y="1443863"/>
                  </a:lnTo>
                  <a:lnTo>
                    <a:pt x="0" y="1443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3587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417320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0B4C8C"/>
                </a:solidFill>
                <a:latin typeface="Cambria"/>
              </a:rPr>
              <a:t>Objectives &amp; Sustainable Development Goals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743200"/>
            <a:ext cx="7680960" cy="57607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971800"/>
            <a:ext cx="69494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>
                <a:solidFill>
                  <a:srgbClr val="B61F2E"/>
                </a:solidFill>
                <a:latin typeface="Cambria"/>
              </a:rPr>
              <a:t>Core 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57600"/>
            <a:ext cx="694944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85750" indent="-285750">
              <a:spcAft>
                <a:spcPts val="1400"/>
              </a:spcAft>
              <a:buChar char="•"/>
            </a:pPr>
            <a:r>
              <a:rPr sz="2200">
                <a:solidFill>
                  <a:srgbClr val="1F2933"/>
                </a:solidFill>
                <a:latin typeface="Calibri"/>
              </a:rPr>
              <a:t>Reconstruct drone-quality (0.1 m) crop health maps from free 10 m Sentinel-2 imagery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200">
                <a:solidFill>
                  <a:srgbClr val="1F2933"/>
                </a:solidFill>
                <a:latin typeface="Calibri"/>
              </a:rPr>
              <a:t>Preserve physically accurate reflectance for reliable NDVI and water stress indexing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200">
                <a:solidFill>
                  <a:srgbClr val="1F2933"/>
                </a:solidFill>
                <a:latin typeface="Calibri"/>
              </a:rPr>
              <a:t>Predict yield and crop water stress from the synthesized maps</a:t>
            </a:r>
          </a:p>
          <a:p>
            <a:pPr marL="285750" indent="-285750">
              <a:spcAft>
                <a:spcPts val="1400"/>
              </a:spcAft>
              <a:buChar char="•"/>
            </a:pPr>
            <a:r>
              <a:rPr sz="2200">
                <a:solidFill>
                  <a:srgbClr val="1F2933"/>
                </a:solidFill>
                <a:latin typeface="Calibri"/>
              </a:rPr>
              <a:t>Remove reliance on continuous, costly drone surveys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2743200"/>
            <a:ext cx="7680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235440" y="3200400"/>
            <a:ext cx="868680" cy="868680"/>
          </a:xfrm>
          <a:prstGeom prst="ellipse">
            <a:avLst/>
          </a:prstGeom>
          <a:solidFill>
            <a:srgbClr val="DDA6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32720" y="294436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SDG 2: Zero Hunger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3456432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F6B76"/>
                </a:solidFill>
                <a:latin typeface="Calibri"/>
              </a:rPr>
              <a:t>Scalable sub-meter crop monitoring and early stress detection for smallholder farmers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4709160"/>
            <a:ext cx="7680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35440" y="5166360"/>
            <a:ext cx="868680" cy="868680"/>
          </a:xfrm>
          <a:prstGeom prst="ellipse">
            <a:avLst/>
          </a:prstGeom>
          <a:solidFill>
            <a:srgbClr val="26BD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6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491032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SDG 6: Clean Water &amp; Sanitation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5422392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F6B76"/>
                </a:solidFill>
                <a:latin typeface="Calibri"/>
              </a:rPr>
              <a:t>Precision water stress maps enable targeted variable-rate drip irrigation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6675120"/>
            <a:ext cx="7680960" cy="1783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D6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235440" y="7132320"/>
            <a:ext cx="868680" cy="868680"/>
          </a:xfrm>
          <a:prstGeom prst="ellipse">
            <a:avLst/>
          </a:prstGeom>
          <a:solidFill>
            <a:srgbClr val="BF8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32720" y="6876288"/>
            <a:ext cx="612648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SDG 12: Responsible Consumption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7388352"/>
            <a:ext cx="612648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5F6B76"/>
                </a:solidFill>
                <a:latin typeface="Calibri"/>
              </a:rPr>
              <a:t>Localized stress detection reduces over-application of fertilizers and pesticides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132601" y="2109264"/>
            <a:ext cx="311239" cy="13999569"/>
            <a:chOff x="0" y="0"/>
            <a:chExt cx="414985" cy="18666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036" cy="18666079"/>
            </a:xfrm>
            <a:custGeom>
              <a:avLst/>
              <a:gdLst/>
              <a:ahLst/>
              <a:cxnLst/>
              <a:rect l="l" t="t" r="r" b="b"/>
              <a:pathLst>
                <a:path w="415036" h="18666079">
                  <a:moveTo>
                    <a:pt x="0" y="0"/>
                  </a:moveTo>
                  <a:lnTo>
                    <a:pt x="415036" y="0"/>
                  </a:lnTo>
                  <a:lnTo>
                    <a:pt x="41503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7418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5900" y="9534525"/>
            <a:ext cx="4114800" cy="547649"/>
            <a:chOff x="0" y="0"/>
            <a:chExt cx="5486400" cy="7301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30200"/>
            </a:xfrm>
            <a:custGeom>
              <a:avLst/>
              <a:gdLst/>
              <a:ahLst/>
              <a:cxnLst/>
              <a:rect l="l" t="t" r="r" b="b"/>
              <a:pathLst>
                <a:path w="5486400" h="7302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402" b="-9640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7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855533" y="885823"/>
            <a:ext cx="509945" cy="18354999"/>
            <a:chOff x="0" y="0"/>
            <a:chExt cx="679926" cy="24473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9964" cy="24473281"/>
            </a:xfrm>
            <a:custGeom>
              <a:avLst/>
              <a:gdLst/>
              <a:ahLst/>
              <a:cxnLst/>
              <a:rect l="l" t="t" r="r" b="b"/>
              <a:pathLst>
                <a:path w="679964" h="24473281">
                  <a:moveTo>
                    <a:pt x="0" y="0"/>
                  </a:moveTo>
                  <a:lnTo>
                    <a:pt x="679964" y="0"/>
                  </a:lnTo>
                  <a:lnTo>
                    <a:pt x="679964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04" r="-52154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" y="44127"/>
            <a:ext cx="3314129" cy="756587"/>
            <a:chOff x="0" y="0"/>
            <a:chExt cx="7566216" cy="1727302"/>
          </a:xfrm>
        </p:grpSpPr>
        <p:sp>
          <p:nvSpPr>
            <p:cNvPr id="11" name="Freeform 11" descr="A picture containing drawing  Description automatically generated"/>
            <p:cNvSpPr/>
            <p:nvPr/>
          </p:nvSpPr>
          <p:spPr>
            <a:xfrm>
              <a:off x="0" y="0"/>
              <a:ext cx="7566152" cy="1727327"/>
            </a:xfrm>
            <a:custGeom>
              <a:avLst/>
              <a:gdLst/>
              <a:ahLst/>
              <a:cxnLst/>
              <a:rect l="l" t="t" r="r" b="b"/>
              <a:pathLst>
                <a:path w="7566152" h="1727327">
                  <a:moveTo>
                    <a:pt x="0" y="0"/>
                  </a:moveTo>
                  <a:lnTo>
                    <a:pt x="7566152" y="0"/>
                  </a:lnTo>
                  <a:lnTo>
                    <a:pt x="7566152" y="1727327"/>
                  </a:lnTo>
                  <a:lnTo>
                    <a:pt x="0" y="1727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50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17749" y="44127"/>
            <a:ext cx="1970256" cy="1082878"/>
            <a:chOff x="0" y="0"/>
            <a:chExt cx="2627008" cy="1443838"/>
          </a:xfrm>
        </p:grpSpPr>
        <p:sp>
          <p:nvSpPr>
            <p:cNvPr id="13" name="Freeform 13" descr="A close up of a sign  Description automatically generated"/>
            <p:cNvSpPr/>
            <p:nvPr/>
          </p:nvSpPr>
          <p:spPr>
            <a:xfrm>
              <a:off x="0" y="0"/>
              <a:ext cx="2626995" cy="1443863"/>
            </a:xfrm>
            <a:custGeom>
              <a:avLst/>
              <a:gdLst/>
              <a:ahLst/>
              <a:cxnLst/>
              <a:rect l="l" t="t" r="r" b="b"/>
              <a:pathLst>
                <a:path w="2626995" h="1443863">
                  <a:moveTo>
                    <a:pt x="0" y="0"/>
                  </a:moveTo>
                  <a:lnTo>
                    <a:pt x="2626995" y="0"/>
                  </a:lnTo>
                  <a:lnTo>
                    <a:pt x="2626995" y="1443863"/>
                  </a:lnTo>
                  <a:lnTo>
                    <a:pt x="0" y="1443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3587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417320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0B4C8C"/>
                </a:solidFill>
                <a:latin typeface="Cambria"/>
              </a:rPr>
              <a:t>Methodology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1645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F6B76"/>
                </a:solidFill>
                <a:latin typeface="Calibri"/>
              </a:rPr>
              <a:t>Conditional GAN engine (Pix2Pix framework)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01752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88720" y="3246120"/>
            <a:ext cx="731520" cy="731520"/>
          </a:xfrm>
          <a:prstGeom prst="ellipse">
            <a:avLst/>
          </a:prstGeom>
          <a:solidFill>
            <a:srgbClr val="0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160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Data preparation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6634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F6B76"/>
                </a:solidFill>
                <a:latin typeface="Calibri"/>
              </a:rPr>
              <a:t>Co-registration, GeoTIFF band extraction, percentile normalization, 256 x 256 patches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892040" y="301752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5166359" y="3246120"/>
            <a:ext cx="731520" cy="731520"/>
          </a:xfrm>
          <a:prstGeom prst="ellipse">
            <a:avLst/>
          </a:prstGeom>
          <a:solidFill>
            <a:srgbClr val="0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59" y="4160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U-Net Generator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59" y="46634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F6B76"/>
                </a:solidFill>
                <a:latin typeface="Calibri"/>
              </a:rPr>
              <a:t>Takes 10 m satellite patches as spatial conditions and synthesizes 0.1 m detail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01752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144000" y="3246120"/>
            <a:ext cx="731520" cy="731520"/>
          </a:xfrm>
          <a:prstGeom prst="ellipse">
            <a:avLst/>
          </a:prstGeom>
          <a:solidFill>
            <a:srgbClr val="0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160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PatchGAN Discriminator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46634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F6B76"/>
                </a:solidFill>
                <a:latin typeface="Calibri"/>
              </a:rPr>
              <a:t>Evaluates local 70 x 70 patches to enforce sharp, realistic canopy geometry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847319" y="3017520"/>
            <a:ext cx="3703320" cy="29260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3121640" y="3246120"/>
            <a:ext cx="731520" cy="731520"/>
          </a:xfrm>
          <a:prstGeom prst="ellipse">
            <a:avLst/>
          </a:prstGeom>
          <a:solidFill>
            <a:srgbClr val="0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121640" y="41605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F2933"/>
                </a:solidFill>
                <a:latin typeface="Calibri"/>
              </a:rPr>
              <a:t>Streamlit Dashboard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121640" y="466344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5F6B76"/>
                </a:solidFill>
                <a:latin typeface="Calibri"/>
              </a:rPr>
              <a:t>Side-by-side viewer, NDVI, water stress alerts and real-time PSNR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6263640"/>
            <a:ext cx="15727680" cy="2240280"/>
          </a:xfrm>
          <a:prstGeom prst="roundRect">
            <a:avLst>
              <a:gd name="adj" fmla="val 6000"/>
            </a:avLst>
          </a:prstGeom>
          <a:solidFill>
            <a:srgbClr val="0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71600" y="644652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AGRONOMIC LOSS FORMULATION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1600" y="6949440"/>
            <a:ext cx="14813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ourier New"/>
              </a:rPr>
              <a:t>L_FasAI = L_cGAN(G, D) + λ · L_1(G) + γ · L_SAM(G)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7680960"/>
            <a:ext cx="148132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DDE8F5"/>
                </a:solidFill>
                <a:latin typeface="Calibri"/>
              </a:rPr>
              <a:t>Spectral Angle Mapper (L_SAM) constrains generated multi-band reflectance to match physical plant canopy spectra, needed for reliable NDVI and water stress indexing.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8641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F6B76"/>
                </a:solidFill>
                <a:latin typeface="Calibri"/>
              </a:rPr>
              <a:t>Stack: PyTorch, Rasterio, Streamlit, GitHub, Google Colab T4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132601" y="2109264"/>
            <a:ext cx="311239" cy="13999569"/>
            <a:chOff x="0" y="0"/>
            <a:chExt cx="414985" cy="18666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036" cy="18666079"/>
            </a:xfrm>
            <a:custGeom>
              <a:avLst/>
              <a:gdLst/>
              <a:ahLst/>
              <a:cxnLst/>
              <a:rect l="l" t="t" r="r" b="b"/>
              <a:pathLst>
                <a:path w="415036" h="18666079">
                  <a:moveTo>
                    <a:pt x="0" y="0"/>
                  </a:moveTo>
                  <a:lnTo>
                    <a:pt x="415036" y="0"/>
                  </a:lnTo>
                  <a:lnTo>
                    <a:pt x="41503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7418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5900" y="9534525"/>
            <a:ext cx="4114800" cy="547649"/>
            <a:chOff x="0" y="0"/>
            <a:chExt cx="5486400" cy="7301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30200"/>
            </a:xfrm>
            <a:custGeom>
              <a:avLst/>
              <a:gdLst/>
              <a:ahLst/>
              <a:cxnLst/>
              <a:rect l="l" t="t" r="r" b="b"/>
              <a:pathLst>
                <a:path w="5486400" h="7302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402" b="-9640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7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855533" y="885823"/>
            <a:ext cx="509945" cy="18354999"/>
            <a:chOff x="0" y="0"/>
            <a:chExt cx="679926" cy="24473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9964" cy="24473281"/>
            </a:xfrm>
            <a:custGeom>
              <a:avLst/>
              <a:gdLst/>
              <a:ahLst/>
              <a:cxnLst/>
              <a:rect l="l" t="t" r="r" b="b"/>
              <a:pathLst>
                <a:path w="679964" h="24473281">
                  <a:moveTo>
                    <a:pt x="0" y="0"/>
                  </a:moveTo>
                  <a:lnTo>
                    <a:pt x="679964" y="0"/>
                  </a:lnTo>
                  <a:lnTo>
                    <a:pt x="679964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04" r="-52154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3716" y="44127"/>
            <a:ext cx="3314129" cy="756587"/>
            <a:chOff x="0" y="0"/>
            <a:chExt cx="7566216" cy="1727302"/>
          </a:xfrm>
        </p:grpSpPr>
        <p:sp>
          <p:nvSpPr>
            <p:cNvPr id="11" name="Freeform 11" descr="A picture containing drawing  Description automatically generated"/>
            <p:cNvSpPr/>
            <p:nvPr/>
          </p:nvSpPr>
          <p:spPr>
            <a:xfrm>
              <a:off x="0" y="0"/>
              <a:ext cx="7566152" cy="1727327"/>
            </a:xfrm>
            <a:custGeom>
              <a:avLst/>
              <a:gdLst/>
              <a:ahLst/>
              <a:cxnLst/>
              <a:rect l="l" t="t" r="r" b="b"/>
              <a:pathLst>
                <a:path w="7566152" h="1727327">
                  <a:moveTo>
                    <a:pt x="0" y="0"/>
                  </a:moveTo>
                  <a:lnTo>
                    <a:pt x="7566152" y="0"/>
                  </a:lnTo>
                  <a:lnTo>
                    <a:pt x="7566152" y="1727327"/>
                  </a:lnTo>
                  <a:lnTo>
                    <a:pt x="0" y="1727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950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6317749" y="44127"/>
            <a:ext cx="1970256" cy="1082878"/>
            <a:chOff x="0" y="0"/>
            <a:chExt cx="2627008" cy="1443838"/>
          </a:xfrm>
        </p:grpSpPr>
        <p:sp>
          <p:nvSpPr>
            <p:cNvPr id="13" name="Freeform 13" descr="A close up of a sign  Description automatically generated"/>
            <p:cNvSpPr/>
            <p:nvPr/>
          </p:nvSpPr>
          <p:spPr>
            <a:xfrm>
              <a:off x="0" y="0"/>
              <a:ext cx="2626995" cy="1443863"/>
            </a:xfrm>
            <a:custGeom>
              <a:avLst/>
              <a:gdLst/>
              <a:ahLst/>
              <a:cxnLst/>
              <a:rect l="l" t="t" r="r" b="b"/>
              <a:pathLst>
                <a:path w="2626995" h="1443863">
                  <a:moveTo>
                    <a:pt x="0" y="0"/>
                  </a:moveTo>
                  <a:lnTo>
                    <a:pt x="2626995" y="0"/>
                  </a:lnTo>
                  <a:lnTo>
                    <a:pt x="2626995" y="1443863"/>
                  </a:lnTo>
                  <a:lnTo>
                    <a:pt x="0" y="1443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3587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325880"/>
            <a:ext cx="16459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0B4C8C"/>
                </a:solidFill>
                <a:latin typeface="Cambria"/>
              </a:rPr>
              <a:t>UML Use Case Diagram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840480" y="2331720"/>
            <a:ext cx="10607040" cy="5989320"/>
          </a:xfrm>
          <a:prstGeom prst="rect">
            <a:avLst/>
          </a:prstGeom>
          <a:noFill/>
          <a:ln w="19050">
            <a:solidFill>
              <a:srgbClr val="5F6B7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069080" y="24505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>
                <a:solidFill>
                  <a:srgbClr val="5F6B76"/>
                </a:solidFill>
                <a:latin typeface="Calibri"/>
              </a:rPr>
              <a:t>FasAI system</a:t>
            </a:r>
          </a:p>
        </p:txBody>
      </p:sp>
      <p:sp>
        <p:nvSpPr>
          <p:cNvPr id="17" name="Oval 16"/>
          <p:cNvSpPr/>
          <p:nvPr/>
        </p:nvSpPr>
        <p:spPr>
          <a:xfrm>
            <a:off x="4663440" y="3177540"/>
            <a:ext cx="3840480" cy="868680"/>
          </a:xfrm>
          <a:prstGeom prst="ellipse">
            <a:avLst/>
          </a:prstGeom>
          <a:solidFill>
            <a:srgbClr val="F1F5FA"/>
          </a:solidFill>
          <a:ln w="22225">
            <a:solidFill>
              <a:srgbClr val="0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Load satellite patch</a:t>
            </a:r>
          </a:p>
        </p:txBody>
      </p:sp>
      <p:sp>
        <p:nvSpPr>
          <p:cNvPr id="18" name="Oval 17"/>
          <p:cNvSpPr/>
          <p:nvPr/>
        </p:nvSpPr>
        <p:spPr>
          <a:xfrm>
            <a:off x="4663440" y="4229100"/>
            <a:ext cx="3840480" cy="868680"/>
          </a:xfrm>
          <a:prstGeom prst="ellipse">
            <a:avLst/>
          </a:prstGeom>
          <a:solidFill>
            <a:srgbClr val="F1F5FA"/>
          </a:solidFill>
          <a:ln w="22225">
            <a:solidFill>
              <a:srgbClr val="0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Generate 0.1 m map</a:t>
            </a:r>
          </a:p>
        </p:txBody>
      </p:sp>
      <p:sp>
        <p:nvSpPr>
          <p:cNvPr id="19" name="Oval 18"/>
          <p:cNvSpPr/>
          <p:nvPr/>
        </p:nvSpPr>
        <p:spPr>
          <a:xfrm>
            <a:off x="4663440" y="5280660"/>
            <a:ext cx="3840480" cy="868680"/>
          </a:xfrm>
          <a:prstGeom prst="ellipse">
            <a:avLst/>
          </a:prstGeom>
          <a:solidFill>
            <a:srgbClr val="F1F5FA"/>
          </a:solidFill>
          <a:ln w="22225">
            <a:solidFill>
              <a:srgbClr val="0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View NDVI &amp; alerts</a:t>
            </a:r>
          </a:p>
        </p:txBody>
      </p:sp>
      <p:sp>
        <p:nvSpPr>
          <p:cNvPr id="20" name="Oval 19"/>
          <p:cNvSpPr/>
          <p:nvPr/>
        </p:nvSpPr>
        <p:spPr>
          <a:xfrm>
            <a:off x="4663440" y="6332220"/>
            <a:ext cx="3840480" cy="868680"/>
          </a:xfrm>
          <a:prstGeom prst="ellipse">
            <a:avLst/>
          </a:prstGeom>
          <a:solidFill>
            <a:srgbClr val="F1F5FA"/>
          </a:solidFill>
          <a:ln w="22225">
            <a:solidFill>
              <a:srgbClr val="0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Compare side by side</a:t>
            </a:r>
          </a:p>
        </p:txBody>
      </p:sp>
      <p:sp>
        <p:nvSpPr>
          <p:cNvPr id="21" name="Oval 20"/>
          <p:cNvSpPr/>
          <p:nvPr/>
        </p:nvSpPr>
        <p:spPr>
          <a:xfrm>
            <a:off x="4663440" y="7383780"/>
            <a:ext cx="3840480" cy="868680"/>
          </a:xfrm>
          <a:prstGeom prst="ellipse">
            <a:avLst/>
          </a:prstGeom>
          <a:solidFill>
            <a:srgbClr val="F1F5FA"/>
          </a:solidFill>
          <a:ln w="22225">
            <a:solidFill>
              <a:srgbClr val="0B4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Compute PSNR score</a:t>
            </a:r>
          </a:p>
        </p:txBody>
      </p:sp>
      <p:sp>
        <p:nvSpPr>
          <p:cNvPr id="22" name="Oval 21"/>
          <p:cNvSpPr/>
          <p:nvPr/>
        </p:nvSpPr>
        <p:spPr>
          <a:xfrm>
            <a:off x="9784080" y="3589020"/>
            <a:ext cx="3840480" cy="868680"/>
          </a:xfrm>
          <a:prstGeom prst="ellipse">
            <a:avLst/>
          </a:prstGeom>
          <a:solidFill>
            <a:srgbClr val="FBECEE"/>
          </a:solidFill>
          <a:ln w="22225">
            <a:solidFill>
              <a:srgbClr val="B6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Preprocess rasters</a:t>
            </a:r>
          </a:p>
        </p:txBody>
      </p:sp>
      <p:sp>
        <p:nvSpPr>
          <p:cNvPr id="23" name="Oval 22"/>
          <p:cNvSpPr/>
          <p:nvPr/>
        </p:nvSpPr>
        <p:spPr>
          <a:xfrm>
            <a:off x="9784080" y="5052060"/>
            <a:ext cx="3840480" cy="868680"/>
          </a:xfrm>
          <a:prstGeom prst="ellipse">
            <a:avLst/>
          </a:prstGeom>
          <a:solidFill>
            <a:srgbClr val="FBECEE"/>
          </a:solidFill>
          <a:ln w="22225">
            <a:solidFill>
              <a:srgbClr val="B61F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1F2933"/>
                </a:solidFill>
                <a:latin typeface="Calibri"/>
              </a:rPr>
              <a:t>Train cGAN model</a:t>
            </a:r>
          </a:p>
        </p:txBody>
      </p:sp>
      <p:sp>
        <p:nvSpPr>
          <p:cNvPr id="24" name="Oval 23"/>
          <p:cNvSpPr/>
          <p:nvPr/>
        </p:nvSpPr>
        <p:spPr>
          <a:xfrm>
            <a:off x="9784080" y="6515100"/>
            <a:ext cx="3840480" cy="868680"/>
          </a:xfrm>
          <a:prstGeom prst="ellipse">
            <a:avLst/>
          </a:prstGeom>
          <a:solidFill>
            <a:srgbClr val="FFFFFF"/>
          </a:solidFill>
          <a:ln w="22225">
            <a:solidFill>
              <a:srgbClr val="8A94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rtlCol="0" anchor="ctr"/>
          <a:lstStyle/>
          <a:p>
            <a:pPr algn="ctr"/>
            <a:r>
              <a:rPr sz="2000" b="1">
                <a:solidFill>
                  <a:srgbClr val="5F6B76"/>
                </a:solidFill>
                <a:latin typeface="Calibri"/>
              </a:rPr>
              <a:t>Predict yield &amp; CWSI</a:t>
            </a:r>
          </a:p>
        </p:txBody>
      </p:sp>
      <p:sp>
        <p:nvSpPr>
          <p:cNvPr id="25" name="Oval 24"/>
          <p:cNvSpPr/>
          <p:nvPr/>
        </p:nvSpPr>
        <p:spPr>
          <a:xfrm>
            <a:off x="1856232" y="365760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6" name="Connector 25"/>
          <p:cNvCxnSpPr/>
          <p:nvPr/>
        </p:nvCxnSpPr>
        <p:spPr>
          <a:xfrm>
            <a:off x="2011680" y="3968496"/>
            <a:ext cx="0" cy="603504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7632" y="4187952"/>
            <a:ext cx="768096" cy="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737360" y="457200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11680" y="457200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1005840" y="51206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3"/>
                </a:solidFill>
                <a:latin typeface="Calibri"/>
              </a:rPr>
              <a:t>Agronomist</a:t>
            </a:r>
          </a:p>
        </p:txBody>
      </p:sp>
      <p:sp>
        <p:nvSpPr>
          <p:cNvPr id="31" name="Oval 30"/>
          <p:cNvSpPr/>
          <p:nvPr/>
        </p:nvSpPr>
        <p:spPr>
          <a:xfrm>
            <a:off x="1856232" y="640080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2011680" y="6711696"/>
            <a:ext cx="0" cy="603504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627632" y="6931152"/>
            <a:ext cx="768096" cy="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1737360" y="731520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011680" y="731520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005840" y="786384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3"/>
                </a:solidFill>
                <a:latin typeface="Calibri"/>
              </a:rPr>
              <a:t>Evaluator</a:t>
            </a:r>
          </a:p>
        </p:txBody>
      </p:sp>
      <p:sp>
        <p:nvSpPr>
          <p:cNvPr id="37" name="Oval 36"/>
          <p:cNvSpPr/>
          <p:nvPr/>
        </p:nvSpPr>
        <p:spPr>
          <a:xfrm>
            <a:off x="16120872" y="310896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" name="Connector 37"/>
          <p:cNvCxnSpPr/>
          <p:nvPr/>
        </p:nvCxnSpPr>
        <p:spPr>
          <a:xfrm>
            <a:off x="16276320" y="3419856"/>
            <a:ext cx="0" cy="603504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15892272" y="3639312"/>
            <a:ext cx="768096" cy="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 flipH="1">
            <a:off x="16002000" y="402336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6276320" y="402336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5270480" y="457200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3"/>
                </a:solidFill>
                <a:latin typeface="Calibri"/>
              </a:rPr>
              <a:t>Data source</a:t>
            </a:r>
          </a:p>
        </p:txBody>
      </p:sp>
      <p:sp>
        <p:nvSpPr>
          <p:cNvPr id="43" name="Oval 42"/>
          <p:cNvSpPr/>
          <p:nvPr/>
        </p:nvSpPr>
        <p:spPr>
          <a:xfrm>
            <a:off x="16120872" y="5760720"/>
            <a:ext cx="310896" cy="310896"/>
          </a:xfrm>
          <a:prstGeom prst="ellipse">
            <a:avLst/>
          </a:prstGeom>
          <a:solidFill>
            <a:srgbClr val="FFFFFF"/>
          </a:solidFill>
          <a:ln w="22225">
            <a:solidFill>
              <a:srgbClr val="1F29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" name="Connector 43"/>
          <p:cNvCxnSpPr/>
          <p:nvPr/>
        </p:nvCxnSpPr>
        <p:spPr>
          <a:xfrm>
            <a:off x="16276320" y="6071616"/>
            <a:ext cx="0" cy="603504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15892272" y="6291072"/>
            <a:ext cx="768096" cy="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16002000" y="667512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16276320" y="6675120"/>
            <a:ext cx="274320" cy="457200"/>
          </a:xfrm>
          <a:prstGeom prst="line">
            <a:avLst/>
          </a:prstGeom>
          <a:ln w="22225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15270480" y="722376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1" i="0">
                <a:solidFill>
                  <a:srgbClr val="1F2933"/>
                </a:solidFill>
                <a:latin typeface="Calibri"/>
              </a:rPr>
              <a:t>Researcher</a:t>
            </a:r>
          </a:p>
        </p:txBody>
      </p:sp>
      <p:cxnSp>
        <p:nvCxnSpPr>
          <p:cNvPr id="49" name="Connector 48"/>
          <p:cNvCxnSpPr/>
          <p:nvPr/>
        </p:nvCxnSpPr>
        <p:spPr>
          <a:xfrm flipV="1">
            <a:off x="2423160" y="3611880"/>
            <a:ext cx="2240280" cy="758952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2423160" y="4370832"/>
            <a:ext cx="2240280" cy="292608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2423160" y="4370832"/>
            <a:ext cx="2240280" cy="1344168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2423160" y="4370832"/>
            <a:ext cx="2240280" cy="2395728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423160" y="6766560"/>
            <a:ext cx="2240280" cy="347472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2423160" y="7114032"/>
            <a:ext cx="2240280" cy="704088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H="1">
            <a:off x="13624560" y="3822191"/>
            <a:ext cx="2240280" cy="201169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 flipV="1">
            <a:off x="13624560" y="5486400"/>
            <a:ext cx="2240280" cy="987552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H="1">
            <a:off x="13624560" y="6473952"/>
            <a:ext cx="2240280" cy="475488"/>
          </a:xfrm>
          <a:prstGeom prst="line">
            <a:avLst/>
          </a:prstGeom>
          <a:ln w="19050">
            <a:solidFill>
              <a:srgbClr val="1F29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8503920" y="4023360"/>
            <a:ext cx="1280160" cy="640080"/>
          </a:xfrm>
          <a:prstGeom prst="line">
            <a:avLst/>
          </a:prstGeom>
          <a:ln w="22225">
            <a:solidFill>
              <a:srgbClr val="5F6B7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11704320" y="4457700"/>
            <a:ext cx="0" cy="594360"/>
          </a:xfrm>
          <a:prstGeom prst="line">
            <a:avLst/>
          </a:prstGeom>
          <a:ln w="22225">
            <a:solidFill>
              <a:srgbClr val="5F6B76"/>
            </a:solidFill>
            <a:prstDash val="dash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11841480" y="459028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1">
                <a:solidFill>
                  <a:srgbClr val="5F6B76"/>
                </a:solidFill>
                <a:latin typeface="Calibri"/>
              </a:rPr>
              <a:t>«include»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132601" y="2109264"/>
            <a:ext cx="311239" cy="13999569"/>
            <a:chOff x="0" y="0"/>
            <a:chExt cx="414985" cy="18666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036" cy="18666079"/>
            </a:xfrm>
            <a:custGeom>
              <a:avLst/>
              <a:gdLst/>
              <a:ahLst/>
              <a:cxnLst/>
              <a:rect l="l" t="t" r="r" b="b"/>
              <a:pathLst>
                <a:path w="415036" h="18666079">
                  <a:moveTo>
                    <a:pt x="0" y="0"/>
                  </a:moveTo>
                  <a:lnTo>
                    <a:pt x="415036" y="0"/>
                  </a:lnTo>
                  <a:lnTo>
                    <a:pt x="41503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7418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5900" y="9534525"/>
            <a:ext cx="4114800" cy="547649"/>
            <a:chOff x="0" y="0"/>
            <a:chExt cx="5486400" cy="7301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30200"/>
            </a:xfrm>
            <a:custGeom>
              <a:avLst/>
              <a:gdLst/>
              <a:ahLst/>
              <a:cxnLst/>
              <a:rect l="l" t="t" r="r" b="b"/>
              <a:pathLst>
                <a:path w="5486400" h="7302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402" b="-9640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7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855533" y="885823"/>
            <a:ext cx="509945" cy="18354999"/>
            <a:chOff x="0" y="0"/>
            <a:chExt cx="679926" cy="24473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9964" cy="24473281"/>
            </a:xfrm>
            <a:custGeom>
              <a:avLst/>
              <a:gdLst/>
              <a:ahLst/>
              <a:cxnLst/>
              <a:rect l="l" t="t" r="r" b="b"/>
              <a:pathLst>
                <a:path w="679964" h="24473281">
                  <a:moveTo>
                    <a:pt x="0" y="0"/>
                  </a:moveTo>
                  <a:lnTo>
                    <a:pt x="679964" y="0"/>
                  </a:lnTo>
                  <a:lnTo>
                    <a:pt x="679964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04" r="-52154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781122" y="-47285"/>
            <a:ext cx="1506883" cy="828203"/>
            <a:chOff x="0" y="0"/>
            <a:chExt cx="2627008" cy="1443838"/>
          </a:xfrm>
        </p:grpSpPr>
        <p:sp>
          <p:nvSpPr>
            <p:cNvPr id="11" name="Freeform 11" descr="A close up of a sign  Description automatically generated"/>
            <p:cNvSpPr/>
            <p:nvPr/>
          </p:nvSpPr>
          <p:spPr>
            <a:xfrm>
              <a:off x="0" y="0"/>
              <a:ext cx="2626995" cy="1443863"/>
            </a:xfrm>
            <a:custGeom>
              <a:avLst/>
              <a:gdLst/>
              <a:ahLst/>
              <a:cxnLst/>
              <a:rect l="l" t="t" r="r" b="b"/>
              <a:pathLst>
                <a:path w="2626995" h="1443863">
                  <a:moveTo>
                    <a:pt x="0" y="0"/>
                  </a:moveTo>
                  <a:lnTo>
                    <a:pt x="2626995" y="0"/>
                  </a:lnTo>
                  <a:lnTo>
                    <a:pt x="2626995" y="1443863"/>
                  </a:lnTo>
                  <a:lnTo>
                    <a:pt x="0" y="1443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587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" y="44127"/>
            <a:ext cx="3227415" cy="736791"/>
            <a:chOff x="0" y="0"/>
            <a:chExt cx="7566216" cy="1727302"/>
          </a:xfrm>
        </p:grpSpPr>
        <p:sp>
          <p:nvSpPr>
            <p:cNvPr id="13" name="Freeform 13" descr="A picture containing drawing  Description automatically generated"/>
            <p:cNvSpPr/>
            <p:nvPr/>
          </p:nvSpPr>
          <p:spPr>
            <a:xfrm>
              <a:off x="0" y="0"/>
              <a:ext cx="7566152" cy="1727327"/>
            </a:xfrm>
            <a:custGeom>
              <a:avLst/>
              <a:gdLst/>
              <a:ahLst/>
              <a:cxnLst/>
              <a:rect l="l" t="t" r="r" b="b"/>
              <a:pathLst>
                <a:path w="7566152" h="1727327">
                  <a:moveTo>
                    <a:pt x="0" y="0"/>
                  </a:moveTo>
                  <a:lnTo>
                    <a:pt x="7566152" y="0"/>
                  </a:lnTo>
                  <a:lnTo>
                    <a:pt x="7566152" y="1727327"/>
                  </a:lnTo>
                  <a:lnTo>
                    <a:pt x="0" y="1727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950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417320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0B4C8C"/>
                </a:solidFill>
                <a:latin typeface="Cambria"/>
              </a:rPr>
              <a:t>Midway Results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16459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5F6B76"/>
                </a:solidFill>
                <a:latin typeface="Calibri"/>
              </a:rPr>
              <a:t>Verified prototype milestone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914400" y="2926080"/>
          <a:ext cx="15727680" cy="2468880"/>
        </p:xfrm>
        <a:graphic>
          <a:graphicData uri="http://schemas.openxmlformats.org/drawingml/2006/table">
            <a:tbl>
              <a:tblPr/>
              <a:tblGrid>
                <a:gridCol w="6400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Method / Model</a:t>
                      </a:r>
                    </a:p>
                  </a:txBody>
                  <a:tcPr marL="274320" anchor="ctr"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PSNR (dB) ↑</a:t>
                      </a:r>
                    </a:p>
                  </a:txBody>
                  <a:tcPr marL="274320" anchor="ctr"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SSIM ↑</a:t>
                      </a:r>
                    </a:p>
                  </a:txBody>
                  <a:tcPr marL="274320" anchor="ctr">
                    <a:solidFill>
                      <a:srgbClr val="0B4C8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Calibri"/>
                        </a:rPr>
                        <a:t>SAM (rad) ↓</a:t>
                      </a:r>
                    </a:p>
                  </a:txBody>
                  <a:tcPr marL="274320" anchor="ctr">
                    <a:solidFill>
                      <a:srgbClr val="0B4C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F2933"/>
                          </a:solidFill>
                          <a:latin typeface="Calibri"/>
                        </a:rPr>
                        <a:t>Bicubic Upsampling Baseline</a:t>
                      </a:r>
                    </a:p>
                  </a:txBody>
                  <a:tcPr marL="274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F2933"/>
                          </a:solidFill>
                          <a:latin typeface="Calibri"/>
                        </a:rPr>
                        <a:t>24.20</a:t>
                      </a:r>
                    </a:p>
                  </a:txBody>
                  <a:tcPr marL="274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F2933"/>
                          </a:solidFill>
                          <a:latin typeface="Calibri"/>
                        </a:rPr>
                        <a:t>0.6500</a:t>
                      </a:r>
                    </a:p>
                  </a:txBody>
                  <a:tcPr marL="2743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F2933"/>
                          </a:solidFill>
                          <a:latin typeface="Calibri"/>
                        </a:rPr>
                        <a:t>0.2100</a:t>
                      </a:r>
                    </a:p>
                  </a:txBody>
                  <a:tcPr marL="27432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2400" b="1">
                          <a:solidFill>
                            <a:srgbClr val="B61F2E"/>
                          </a:solidFill>
                          <a:latin typeface="Calibri"/>
                        </a:rPr>
                        <a:t>FasAI cGAN Engine (Proposed)</a:t>
                      </a:r>
                    </a:p>
                  </a:txBody>
                  <a:tcPr marL="274320" anchor="ctr"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B61F2E"/>
                          </a:solidFill>
                          <a:latin typeface="Calibri"/>
                        </a:rPr>
                        <a:t>28.50</a:t>
                      </a:r>
                    </a:p>
                  </a:txBody>
                  <a:tcPr marL="274320" anchor="ctr"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B61F2E"/>
                          </a:solidFill>
                          <a:latin typeface="Calibri"/>
                        </a:rPr>
                        <a:t>0.8100</a:t>
                      </a:r>
                    </a:p>
                  </a:txBody>
                  <a:tcPr marL="274320" anchor="ctr">
                    <a:solidFill>
                      <a:srgbClr val="FBECE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B61F2E"/>
                          </a:solidFill>
                          <a:latin typeface="Calibri"/>
                        </a:rPr>
                        <a:t>0.0850</a:t>
                      </a:r>
                    </a:p>
                  </a:txBody>
                  <a:tcPr marL="274320" anchor="ctr">
                    <a:solidFill>
                      <a:srgbClr val="FBEC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914400" y="5806440"/>
            <a:ext cx="5029200" cy="26974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280160" y="598932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0B4C8C"/>
                </a:solidFill>
                <a:latin typeface="Cambria"/>
              </a:rPr>
              <a:t>+4.3 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717804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F2933"/>
                </a:solidFill>
                <a:latin typeface="Calibri"/>
              </a:rPr>
              <a:t>PSNR improvement over standard upsampling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5806440"/>
            <a:ext cx="5029200" cy="26974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29400" y="598932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B61F2E"/>
                </a:solidFill>
                <a:latin typeface="Cambria"/>
              </a:rPr>
              <a:t>SSIM &gt; 0.8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717804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F2933"/>
                </a:solidFill>
                <a:latin typeface="Calibri"/>
              </a:rPr>
              <a:t>Confirms accurate reconstruction of crop row structures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2880" y="5806440"/>
            <a:ext cx="5029200" cy="269748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978640" y="5989320"/>
            <a:ext cx="4297680" cy="10972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4400" b="1">
                <a:solidFill>
                  <a:srgbClr val="0B4C8C"/>
                </a:solidFill>
                <a:latin typeface="Cambria"/>
              </a:rPr>
              <a:t>SAM &lt; 0.1 rad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78640" y="7178040"/>
            <a:ext cx="429768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F2933"/>
                </a:solidFill>
                <a:latin typeface="Calibri"/>
              </a:rPr>
              <a:t>Low spectral error keeps reflectance physically accurate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11132601" y="2109264"/>
            <a:ext cx="311239" cy="13999569"/>
            <a:chOff x="0" y="0"/>
            <a:chExt cx="414985" cy="1866609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5036" cy="18666079"/>
            </a:xfrm>
            <a:custGeom>
              <a:avLst/>
              <a:gdLst/>
              <a:ahLst/>
              <a:cxnLst/>
              <a:rect l="l" t="t" r="r" b="b"/>
              <a:pathLst>
                <a:path w="415036" h="18666079">
                  <a:moveTo>
                    <a:pt x="0" y="0"/>
                  </a:moveTo>
                  <a:lnTo>
                    <a:pt x="415036" y="0"/>
                  </a:lnTo>
                  <a:lnTo>
                    <a:pt x="415036" y="18666079"/>
                  </a:lnTo>
                  <a:lnTo>
                    <a:pt x="0" y="18666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r="-27418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2915900" y="9534525"/>
            <a:ext cx="4114800" cy="547649"/>
            <a:chOff x="0" y="0"/>
            <a:chExt cx="5486400" cy="73019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486400" cy="730200"/>
            </a:xfrm>
            <a:custGeom>
              <a:avLst/>
              <a:gdLst/>
              <a:ahLst/>
              <a:cxnLst/>
              <a:rect l="l" t="t" r="r" b="b"/>
              <a:pathLst>
                <a:path w="5486400" h="730200">
                  <a:moveTo>
                    <a:pt x="0" y="0"/>
                  </a:moveTo>
                  <a:lnTo>
                    <a:pt x="5486400" y="0"/>
                  </a:lnTo>
                  <a:lnTo>
                    <a:pt x="5486400" y="730200"/>
                  </a:lnTo>
                  <a:lnTo>
                    <a:pt x="0" y="730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6402" b="-96401"/>
              </a:stretch>
            </a:blipFill>
          </p:spPr>
          <p:txBody>
            <a:bodyPr/>
            <a:lstStyle/>
            <a:p>
              <a:endParaRPr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5486400" cy="76829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88888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 rot="5400000">
            <a:off x="8855533" y="885823"/>
            <a:ext cx="509945" cy="18354999"/>
            <a:chOff x="0" y="0"/>
            <a:chExt cx="679926" cy="2447333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79964" cy="24473281"/>
            </a:xfrm>
            <a:custGeom>
              <a:avLst/>
              <a:gdLst/>
              <a:ahLst/>
              <a:cxnLst/>
              <a:rect l="l" t="t" r="r" b="b"/>
              <a:pathLst>
                <a:path w="679964" h="24473281">
                  <a:moveTo>
                    <a:pt x="0" y="0"/>
                  </a:moveTo>
                  <a:lnTo>
                    <a:pt x="679964" y="0"/>
                  </a:lnTo>
                  <a:lnTo>
                    <a:pt x="679964" y="24473281"/>
                  </a:lnTo>
                  <a:lnTo>
                    <a:pt x="0" y="244732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3304" r="-521546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030700" y="44127"/>
            <a:ext cx="1257305" cy="691031"/>
            <a:chOff x="0" y="0"/>
            <a:chExt cx="2627008" cy="1443838"/>
          </a:xfrm>
        </p:grpSpPr>
        <p:sp>
          <p:nvSpPr>
            <p:cNvPr id="11" name="Freeform 11" descr="A close up of a sign  Description automatically generated"/>
            <p:cNvSpPr/>
            <p:nvPr/>
          </p:nvSpPr>
          <p:spPr>
            <a:xfrm>
              <a:off x="0" y="0"/>
              <a:ext cx="2626995" cy="1443863"/>
            </a:xfrm>
            <a:custGeom>
              <a:avLst/>
              <a:gdLst/>
              <a:ahLst/>
              <a:cxnLst/>
              <a:rect l="l" t="t" r="r" b="b"/>
              <a:pathLst>
                <a:path w="2626995" h="1443863">
                  <a:moveTo>
                    <a:pt x="0" y="0"/>
                  </a:moveTo>
                  <a:lnTo>
                    <a:pt x="2626995" y="0"/>
                  </a:lnTo>
                  <a:lnTo>
                    <a:pt x="2626995" y="1443863"/>
                  </a:lnTo>
                  <a:lnTo>
                    <a:pt x="0" y="14438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-35872"/>
              </a:stretch>
            </a:blipFill>
          </p:spPr>
          <p:txBody>
            <a:bodyPr/>
            <a:lstStyle/>
            <a:p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716" y="44127"/>
            <a:ext cx="3225257" cy="736298"/>
            <a:chOff x="0" y="0"/>
            <a:chExt cx="7566216" cy="1727302"/>
          </a:xfrm>
        </p:grpSpPr>
        <p:sp>
          <p:nvSpPr>
            <p:cNvPr id="13" name="Freeform 13" descr="A picture containing drawing  Description automatically generated"/>
            <p:cNvSpPr/>
            <p:nvPr/>
          </p:nvSpPr>
          <p:spPr>
            <a:xfrm>
              <a:off x="0" y="0"/>
              <a:ext cx="7566152" cy="1727327"/>
            </a:xfrm>
            <a:custGeom>
              <a:avLst/>
              <a:gdLst/>
              <a:ahLst/>
              <a:cxnLst/>
              <a:rect l="l" t="t" r="r" b="b"/>
              <a:pathLst>
                <a:path w="7566152" h="1727327">
                  <a:moveTo>
                    <a:pt x="0" y="0"/>
                  </a:moveTo>
                  <a:lnTo>
                    <a:pt x="7566152" y="0"/>
                  </a:lnTo>
                  <a:lnTo>
                    <a:pt x="7566152" y="1727327"/>
                  </a:lnTo>
                  <a:lnTo>
                    <a:pt x="0" y="172732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9507"/>
              </a:stretch>
            </a:blipFill>
          </p:spPr>
          <p:txBody>
            <a:bodyPr/>
            <a:lstStyle/>
            <a:p>
              <a:endParaRPr/>
            </a:p>
          </p:txBody>
        </p:sp>
      </p:grpSp>
      <p:sp>
        <p:nvSpPr>
          <p:cNvPr id="14" name="TextBox 13"/>
          <p:cNvSpPr txBox="1"/>
          <p:nvPr/>
        </p:nvSpPr>
        <p:spPr>
          <a:xfrm>
            <a:off x="914400" y="1417320"/>
            <a:ext cx="1645920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0B4C8C"/>
                </a:solidFill>
                <a:latin typeface="Cambria"/>
              </a:rPr>
              <a:t>Next Steps &amp; Conclusion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60604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2788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B61F2E"/>
                </a:solidFill>
                <a:latin typeface="Calibri"/>
              </a:rPr>
              <a:t>PHASE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24612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4C8C"/>
                </a:solidFill>
                <a:latin typeface="Cambria"/>
              </a:rPr>
              <a:t>Cloud GPU Scaling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93192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F2933"/>
                </a:solidFill>
                <a:latin typeface="Calibri"/>
              </a:rPr>
              <a:t>Train FasAI for 50+ epochs on Google Colab T4 GPUs with expanded spatial rasters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260604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29400" y="2788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B61F2E"/>
                </a:solidFill>
                <a:latin typeface="Calibri"/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324612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4C8C"/>
                </a:solidFill>
                <a:latin typeface="Cambria"/>
              </a:rPr>
              <a:t>Yield &amp; Stress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393192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F2933"/>
                </a:solidFill>
                <a:latin typeface="Calibri"/>
              </a:rPr>
              <a:t>Random Forest / XGBoost on synthesized maps for yield (tons/ha) and Crop Water Stress Index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612880" y="260604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978640" y="2788920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B61F2E"/>
                </a:solidFill>
                <a:latin typeface="Calibri"/>
              </a:rPr>
              <a:t>PHASE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978640" y="3246120"/>
            <a:ext cx="4297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0B4C8C"/>
                </a:solidFill>
                <a:latin typeface="Cambria"/>
              </a:rPr>
              <a:t>Sparse Sampling Validation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978640" y="3931920"/>
            <a:ext cx="42976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1F2933"/>
                </a:solidFill>
                <a:latin typeface="Calibri"/>
              </a:rPr>
              <a:t>Benchmark reconstruction under 10%, 20% and 50% drone field coverage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4400" y="5669280"/>
            <a:ext cx="15727680" cy="1600200"/>
          </a:xfrm>
          <a:prstGeom prst="roundRect">
            <a:avLst>
              <a:gd name="adj" fmla="val 6000"/>
            </a:avLst>
          </a:prstGeom>
          <a:solidFill>
            <a:srgbClr val="0B4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371600" y="5806440"/>
            <a:ext cx="14813280" cy="1325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FasAI shows that cGAN-based satellite-drone image fusion bridges the resolution-cost gap in precision agriculture, delivering sub-meter stress and yield maps from free satellite data without continuous drone surveys.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7589520"/>
            <a:ext cx="15727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>
                <a:solidFill>
                  <a:srgbClr val="B61F2E"/>
                </a:solidFill>
                <a:latin typeface="Calibri"/>
              </a:rPr>
              <a:t>Target venues: </a:t>
            </a:r>
            <a:r>
              <a:rPr sz="2000" b="0">
                <a:solidFill>
                  <a:srgbClr val="1F2933"/>
                </a:solidFill>
                <a:latin typeface="Calibri"/>
              </a:rPr>
              <a:t>Computers and Electronics in Agriculture (Elsevier COMPAG)  |  IEEE Geoscience and Remote Sensing Letters (GRSL)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554</Words>
  <Application>Microsoft Office PowerPoint</Application>
  <PresentationFormat>Custom</PresentationFormat>
  <Paragraphs>97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Courier New</vt:lpstr>
      <vt:lpstr>Calibri (MS)</vt:lpstr>
      <vt:lpstr>Arial</vt:lpstr>
      <vt:lpstr>Cambria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MediRoute</dc:title>
  <dc:creator>Jalaj Shrivastava</dc:creator>
  <cp:lastModifiedBy>Ayush Totla</cp:lastModifiedBy>
  <cp:revision>7</cp:revision>
  <dcterms:created xsi:type="dcterms:W3CDTF">2006-08-16T00:00:00Z</dcterms:created>
  <dcterms:modified xsi:type="dcterms:W3CDTF">2026-09-29T09:36:25Z</dcterms:modified>
  <dc:identifier>DAHV0h6Hhu4</dc:identifier>
</cp:coreProperties>
</file>